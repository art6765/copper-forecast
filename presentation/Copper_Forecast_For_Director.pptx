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Группы признаков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bubble3D val="0"/>
            <c:spPr>
              <a:solidFill>
                <a:srgbClr val="F08080"/>
              </a:solidFill>
              <a:effectLst/>
            </c:spPr>
          </c:dPt>
          <c:dPt>
            <c:idx val="3"/>
            <c:bubble3D val="0"/>
            <c:spPr>
              <a:solidFill>
                <a:srgbClr val="E0E0E0"/>
              </a:solidFill>
              <a:effectLst/>
            </c:spPr>
          </c:dPt>
          <c:dPt>
            <c:idx val="4"/>
            <c:bubble3D val="0"/>
            <c:spPr>
              <a:solidFill>
                <a:srgbClr val="8B0E20"/>
              </a:solidFill>
              <a:effectLst/>
            </c:spPr>
          </c:dPt>
          <c:dPt>
            <c:idx val="5"/>
            <c:bubble3D val="0"/>
            <c:spPr>
              <a:solidFill>
                <a:srgbClr val="5C5C5C"/>
              </a:solidFill>
              <a:effectLst/>
            </c:spPr>
          </c:dPt>
          <c:dPt>
            <c:idx val="6"/>
            <c:bubble3D val="0"/>
            <c:spPr>
              <a:solidFill>
                <a:srgbClr val="B0B7C3"/>
              </a:solidFill>
              <a:effectLst/>
            </c:spPr>
          </c:dPt>
          <c:dPt>
            <c:idx val="7"/>
            <c:bubble3D val="0"/>
            <c:spPr>
              <a:solidFill>
                <a:srgbClr val="8DA1B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① История цены</c:v>
                </c:pt>
                <c:pt idx="1">
                  <c:v>④ Спекулянты (COT)</c:v>
                </c:pt>
                <c:pt idx="2">
                  <c:v>② Валюты</c:v>
                </c:pt>
                <c:pt idx="3">
                  <c:v>⑤ LME + запасы</c:v>
                </c:pt>
                <c:pt idx="4">
                  <c:v>③ Mining ETFs + риск</c:v>
                </c:pt>
                <c:pt idx="5">
                  <c:v>⑥ Связанные товары</c:v>
                </c:pt>
                <c:pt idx="6">
                  <c:v>⑦ Технические</c:v>
                </c:pt>
                <c:pt idx="7">
                  <c:v>⑧ Новости + сентимент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35</c:v>
                </c:pt>
                <c:pt idx="1">
                  <c:v>13</c:v>
                </c:pt>
                <c:pt idx="2">
                  <c:v>12</c:v>
                </c:pt>
                <c:pt idx="3">
                  <c:v>10</c:v>
                </c:pt>
                <c:pt idx="4">
                  <c:v>10</c:v>
                </c:pt>
                <c:pt idx="5">
                  <c:v>8</c:v>
                </c:pt>
                <c:pt idx="6">
                  <c:v>7</c:v>
                </c:pt>
                <c:pt idx="7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377440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АКРОН ХОЛДИНГ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медь · элемент №29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модель и зачем нужен эксперт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4114800"/>
            <a:ext cx="91440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Доклад для руководства · 8 минут чтения · 17 слайдов · v2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этот доклад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формул. Простыми словами. С конкретными числами.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490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нужна эта система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Какую задачу решает и почему мы её решаем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0876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23560" y="1490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групп показателей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2356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Цена, валюты, COT, LME, Mining ETFs, новости, события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65176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модели + адаптивные веса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автоматически меняются в шоках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68880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65176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23560" y="2633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эксперта (новое v2)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235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What-if, стресс-тесты, PDF-отчёт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79476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371600" y="3776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нужен эксперт по меди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160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человек делает, чего модель не сможет никогда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794760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23560" y="3776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 и что улучшать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2356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v2 готов, дальше — ERP, рубли, alerts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нужна эта система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покупать медь дешевле и без сюрпризов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Колебания цены в год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Медь — один из самых волатильных промметаллов. Ошибка момента покупки за месяц легко стоит ±5-10 %.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Шока в год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Panamá, Escondida, тарифы Трампа — крупные события случаются регулярно и двигают цену на 5-25 %.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03504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Китая в спросе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меди сильно зависит от китайского промышленного цикла, который трудно отслеживать вручную.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система: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утро — прогноз цены на 3 дня, 10 дней, 1, 3, 6 месяцев в виде диапазона «от» и «до»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Подсказку о текущем режиме рынка: спокойный, тренд, шок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Свежие новости с фильтрами (забастовки, тарифы, Китай) и каталог исторических событий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отмотать время назад и посмотреть, что модель предсказывала бы в любой день из прошлого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502152"/>
            <a:ext cx="7955280" cy="93268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утро — прогноз цены на 3 дня, 10 дней, 1, 3, 6 месяцев в виде диапазона «от» и «до»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Подсказку о текущем режиме рынка: спокойный, тренд, шок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Свежие новости с фильтрами (забастовки, тарифы, Китай) и каталог исторических событий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отмотать время назад и посмотреть, что модель предсказывала бы в любой день из прошлого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показатели мы используем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групп. Каждая отвечает за свой класс сигналов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574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64008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цены меди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Тренд, сезонность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280160"/>
            <a:ext cx="20574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280160"/>
            <a:ext cx="64008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Доллар + валюты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DXY, AUD, CLP, CNY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20574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280160"/>
            <a:ext cx="64008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5216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ETFs + риск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COPX, PICK, VIX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49440" y="1280160"/>
            <a:ext cx="20574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280160"/>
            <a:ext cx="64008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046720" y="13716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Позиции спекулянтов (COT)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Опережающий сигнал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697480"/>
            <a:ext cx="20574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697480"/>
            <a:ext cx="64008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463040" y="2788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LME 3M + запасы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baseline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0" y="2697480"/>
            <a:ext cx="20574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2697480"/>
            <a:ext cx="64008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657600" y="2788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69748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 товары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6974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Нефть, золото, серебро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697480"/>
            <a:ext cx="20574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697480"/>
            <a:ext cx="64008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852160" y="2788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8920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Технические индикаторы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9204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RSI/MACD/ATR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2697480"/>
            <a:ext cx="20574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9440" y="2697480"/>
            <a:ext cx="64008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660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8046720" y="2788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8660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 + сентимент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866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+ правила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справа сверху — относительная важность показателя в общем прогнозе (по среднему feature importance из XGBoost).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История цены меди — 40 %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главный сигнал. Большая часть будущей цены — в прошлой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система смотрит: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Цену вчера, неделю назад, месяц назад, 3 месяца назад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за 5 / 10 / 20 / 60 торговых дней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изменения (моментум) на разных окнах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Волатильность — как сильно цена скакала недавно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Соотношение между скользящими средними (тренд: восходящий или нисходящий)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0680" y="1280160"/>
            <a:ext cx="329184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пальцах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медь росла последние 60 дней и продолжает расти — система ставит больший вес на «продолжит расти ещё неделю».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цена резко подпрыгнула — система отмечает «перегрев» и ждёт коррекции (через индикатор RSI).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рынок «спит» с маленькой волатильностью — коридор прогноза сужается.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40 %? — Физическая реальность: цена меди — это случайное блуждание с автокорреляцией. Сама история несёт основной сигнал.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Доллар (DXY) — 12 %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доллар сильнее — медь дешевеет. И наоборот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DXY — индекс доллара к корзине из 6 валют (евро, иена, фунт и т.д.). Считается ICE Futures, обновляется ежедневно.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важно для меди: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Медь продаётся за доллары на мировых биржах. Когда доллар растёт — для покупателей в евро, юанях, рублях медь становится дороже → спрос падает → цена снижается.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1280160"/>
            <a:ext cx="352044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417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Историческая корреляция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7373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−0.65 … −0.82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49240" y="22860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20-летний период 2000-2019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2788920"/>
            <a:ext cx="3520440" cy="1691640"/>
          </a:xfrm>
          <a:prstGeom prst="rect">
            <a:avLst/>
          </a:prstGeom>
          <a:solidFill>
            <a:srgbClr val="F5F5F5"/>
          </a:solidFill>
          <a:ln w="19050">
            <a:solidFill>
              <a:srgbClr val="C9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926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После 2020 связь ослабла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324612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2021-2022 и доллар, и медь росли одновременно — стимулы ФРС, дефицит после локдаунов. Модель учитывает это: считает скользящую корреляцию 60 дней и переключается на физические факторы, если связь нарушилась.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Связанные товары — 10 %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с похожими активами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13533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Нефть WTI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325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 спрос на сырьё → растёт и медь. Энергия — топливо для плавки.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43000" y="19933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 золото — пахнет инфляцией. Медь тоже выигрывает.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26334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Серебро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Промышленный кузен меди. Часто двигаются вместе.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43000" y="32735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3246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Растут акции → risk-on → товары в плюсе.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143000" y="3913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Доходность UST 10Y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29000" y="3886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ставка → давление на товары через DXY.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Кроме самих цен — система считает 60-дневную корреляцию каждого актива с медью, и динамически снижает вес сигнала, если связь ослабла.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Позиции спекулянтов (CFTC COT) — 15 %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Опережающий сигнал: что думают крупные фонды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COT: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вторник CFTC (надзорный орган США) собирает данные: сколько длинных и коротких позиций открыли хедж-фонды, производители, мелкие игроки. Публикуется в пятницу.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используем: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long Money Manager — чистая длинная позиция хедж-фондов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Interest — общий объём контрактов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за 5 лет — насколько позиции экстремальны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за 4 и 12 недель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280160"/>
            <a:ext cx="3246120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работает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Хедж-фонды — крупные и информированные. Когда они массово купили длинные позиции — рынок «перегрет» и часто разворачивается.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Эмпирический факт: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3017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Экстремум Net Long опережает локальные пики цены на 1-4 недели в 6 из 10 случаев за 2020-2026.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в системе: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net long ≈ 74 000 контрактов (29 % OI)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Запасы меди на LME — 8 %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физического металла на бирже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отслеживаем: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объём складских запасов меди в сети LME warehouses по всему миру (Роттердам, Сингапур, Пусан, США, …). Снимок ежедневно.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чём говорит: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Запасы растут → переизбыток предложения → давление на цену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Запасы падают → дефицит → поддержка цены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Резкий вывод (как Trafigura −51 000 т) — сигнал крупного контракта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1280160"/>
            <a:ext cx="329184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на LME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691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391 900 т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7784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−1 200 т за вчерашний день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Westmetall snapshot · бесплатно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3063240"/>
            <a:ext cx="3291840" cy="1463040"/>
          </a:xfrm>
          <a:prstGeom prst="rect">
            <a:avLst/>
          </a:prstGeom>
          <a:solidFill>
            <a:srgbClr val="F5F5F5"/>
          </a:solidFill>
          <a:ln w="19050">
            <a:solidFill>
              <a:srgbClr val="C97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200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Ограничение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3520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— только текущий снимок. История запасов формируется только при ежедневных запусках системы.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Технические индикаторы — 10 %  ·  ⑦ Календарь — 5 %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Сигналы, проверенные практикой трейдеров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RSI(14)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тренда от 0 до 100. &gt;70 — перегрев, &lt;30 — перепроданность.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54864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716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быстрого и медленного среднего. Пересечения = развороты тренда.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77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%B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цена внутри коридора стандартного отклонения. Выход за края — сигнал.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402336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286000"/>
            <a:ext cx="54864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377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ATR(14)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26974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Истинный диапазон — насколько широко цена двигается. Шкала риска.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 Календарь и режим рынка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38221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недели / месяц — сезонность (китайский Новый год, отчёты ФРС)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режим (спокойный / турбулентный) из марковской модели — переключает «настроение» прогноза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показателей — общая картина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= 100 %. Веса считаются автоматически из обучения модели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5720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3035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выводы: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4924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половины (48 %) — цена и спекулянты. Это «душа» рынка.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Макро (валюты + Mining ETFs + связанные товары) — 30 %.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baseline LME 3M + физические запасы — 10 %.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Технические + новости с сентиментом — 12 %.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корректируются автоматически: при включении адаптивного режима — по сигналу Markov-модели.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считается прогноз — на пальцах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независимые «головы» голосуют. Берётся взвешенное среднее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749808"/>
          </a:xfrm>
          <a:prstGeom prst="rect">
            <a:avLst/>
          </a:prstGeom>
          <a:solidFill>
            <a:srgbClr val="5C5C5C"/>
          </a:solidFill>
          <a:ln w="12700">
            <a:solidFill>
              <a:srgbClr val="5C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Простая статистика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0" y="13533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«Если последние 3 месяца цена скакала на ±5 %, то и дальше будет так же скакать.»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822960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21408"/>
            <a:ext cx="73152" cy="7498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ARIMA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24871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«Завтра скорее всего так же, как сегодня. Через месяц — тоже как сейчас.»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822960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62656"/>
            <a:ext cx="73152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35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 XGBoost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0" y="3035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33284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«400 простых правил, выученных на 5 годах данных. Например: если DXY падает и RSI &lt; 30, цена обычно растёт 4 дня.»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822960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03904"/>
            <a:ext cx="73152" cy="749808"/>
          </a:xfrm>
          <a:prstGeom prst="rect">
            <a:avLst/>
          </a:prstGeom>
          <a:solidFill>
            <a:srgbClr val="F08080"/>
          </a:solidFill>
          <a:ln w="12700">
            <a:solidFill>
              <a:srgbClr val="F08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77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MLP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0" y="38770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«36 нейронов учат плавные связи. Когда XGBoost видит «решётку» правил, нейросеть — «гладкую поверхность».»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Веса меняются автоматически: в спокойном рынке доверяем ML (XGB 45 %), в шоках — переключаемся на ARIMA/GBM (75 %). Решает «ломку» моделей в нестабильные периоды.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эксперта — что нового в v2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перестал быть «чёрным ящиком». Теперь видно, ПОЧЕМУ.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73152" cy="1554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SHAP: почему такой прогноз?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любой прогноз модель показывает топ-10 факторов, которые тянут цену вверх (зелёные) или вниз (красные). Видно вклад каждого: DXY, COT, RSI, корреляции.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Перестали верить «вслепую» — теперь решение опирается на видимые причины.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80160"/>
            <a:ext cx="73152" cy="1554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389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What-if: симуляция сценариев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737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слайдеров: DXY, нефть, VIX, Mining ETFs, юань, позиции хедж-фондов. Сдвиг — мгновенный пересчёт прогноза.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Проигрывайте «что если CPI выйдет горячее на 0.3 %» прямо в окне.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71800"/>
            <a:ext cx="73152" cy="1554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81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Стресс-тесты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429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готовых сценариев: Cobre Panamá, Escondida, тариф 30 %, COVID, China stimulus. Накладываем шок на текущий прогноз — видим downside.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4087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Перед крупной закупкой — сразу видно худший сценарий.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02336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971800"/>
            <a:ext cx="73152" cy="1554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081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PDF-отчёт одной кнопкой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8032" y="3429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ключевые метрики, прогноз на 5 горизонтов, события на месяц — в 1-2 страничном PDF.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4087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Еженедельная отправка руководству — больше не задача на полдня.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модель сильна, а где беспомощна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карта возможностей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383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Что модель видит хорошо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и инерцию рынка (последние 1-3 месяца)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Сезонные циклы (китайский Новый год, отчёты ФРС)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Перегрев / перепроданность через RSI и Bollinger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режимы — переходы спокойный ↔ турбулентный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Опережающие сигналы от хедж-фондов через COT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с долларом, золотом, нефтью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solidFill>
            <a:srgbClr val="F5F5F5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Чего модель не видит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Будущие забастовки на рудниках (Escondida 2024, +4 %)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Политические тарифы и санкции (Трамп, июль 2025, ±25 %)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Землетрясения, аварии, природные катастрофы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OPEC, ФРС, Банка Китая до их объявления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Долгосрочные контракты вашей компании с поставщиками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скидок, объёмов и сезонность вашей закупки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Геополитику и санкционные риски РФ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нужен эксперт с многолетним опытом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Половина решения — модель. Вторая половина — человек, который её ведёт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и здравый смысл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показывает прогноз +25 %. Эксперт спрашивает: «А что случилось? Землетрясение? Тарифы?». Без контекста нельзя действовать.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7432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444752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7764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 с поставщиками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9339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Знает, кому позвонить в Codelco или Glencore. Знает спецификации, объёмы, скидки за лояльность.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7432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444752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1417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Качественные сигналы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99339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Слухи в отрасли, разговоры на конференциях, отношения между менеджерами BHP и закупщиками — этого нет в открытых данных.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7432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36392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рисками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6850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хеджировать форвардом, когда брать спот, как разделить объёмы по поставщикам. Это вопрос опыта, не статистики.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971800"/>
            <a:ext cx="27432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136392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77640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модели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36850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шока — настроить веса, добавить новые показатели, отключить устаревшие. Модель не обновится сама.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971800"/>
            <a:ext cx="27432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136392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ошибок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36850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модель говорит «купи сейчас», но опыт говорит «подожди до решения OPEC» — слушать опыт. Эксперт — последний фильтр.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улучшать дальше + бюджет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синхронизирован с документом «Платные сервисы»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СДЕЛАНО в v2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Адаптивные веса по режиму Markov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SHAP-объяснение каждого прогноза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 LME 3M + COMEX, премия как фича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событий с прогнозами аналитиков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+ стресс-тесты + PDF-отчёт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источников: валюты, Mining ETFs, VIX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74320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~30 тыс. ₽/мес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(1 тыс. ₽): быстрый старт, свой домен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Economics (9 тыс. ₽): авто-календарь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ICSG Bulletin (20 тыс. ₽): баланс рынка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+5-7 % точности прогноза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освобождает 25 ч аналитика в мес.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Окупается при закупках от 50 млн ₽/год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74320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~150 тыс. ₽/мес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из минимального пакета +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Platts (100 тыс. ₽): TC/RC, концентраты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 (50 тыс. ₽): китайский физ. рынок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(10 тыс. ₽): умный NLP новостей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+10-15 % точности на длинных горизонтах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закупок от 500 млн ₽/год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Рекомендация: начать с зелёного пакета (~30 тыс. ₽/мес). Через 6 месяцев — оценить эффект в реальных деньгах и решить про жёлтый пакет. Подробности — в документе «Платные сервисы».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цены меди · для руководства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92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одной фразой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система помощи решениям, а не автомат.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ловит цифровые сигналы (цены, позиции, запасы, корреляции), а эксперт по меди добавляет контекст, опыт и связи. Только вместе они работают.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к работе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на 5 горизонтов + COMEX/LME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групп показателей · 4 модели + адаптивные веса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SHAP-объяснение · What-if · стресс-тесты · 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событий с консенсусом аналитиков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от вас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Эксперт-куратор системы (1 человек, 0.5 FTE)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на подписки: ~30 тыс. ₽/мес (старт)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данным закупок для калибровки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6 мес — решение о расширении пакета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пилот можно в течение недели · команда готова к демонстрации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прогноза цены меди — для руководства</dc:title>
  <dc:subject>PptxGenJS Presentation</dc:subject>
  <dc:creator>PptxGenJS</dc:creator>
  <cp:lastModifiedBy>PptxGenJS</cp:lastModifiedBy>
  <cp:revision>1</cp:revision>
  <dcterms:created xsi:type="dcterms:W3CDTF">2026-05-27T12:53:21Z</dcterms:created>
  <dcterms:modified xsi:type="dcterms:W3CDTF">2026-05-27T12:53:21Z</dcterms:modified>
</cp:coreProperties>
</file>