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Группы признаков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7333"/>
              </a:solidFill>
              <a:effectLst/>
            </c:spPr>
          </c:dPt>
          <c:dPt>
            <c:idx val="1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bubble3D val="0"/>
            <c:spPr>
              <a:solidFill>
                <a:srgbClr val="E8A87C"/>
              </a:solidFill>
              <a:effectLst/>
            </c:spPr>
          </c:dPt>
          <c:dPt>
            <c:idx val="3"/>
            <c:bubble3D val="0"/>
            <c:spPr>
              <a:solidFill>
                <a:srgbClr val="CADCFC"/>
              </a:solidFill>
              <a:effectLst/>
            </c:spPr>
          </c:dPt>
          <c:dPt>
            <c:idx val="4"/>
            <c:bubble3D val="0"/>
            <c:spPr>
              <a:solidFill>
                <a:srgbClr val="8B5A2B"/>
              </a:solidFill>
              <a:effectLst/>
            </c:spPr>
          </c:dPt>
          <c:dPt>
            <c:idx val="5"/>
            <c:bubble3D val="0"/>
            <c:spPr>
              <a:solidFill>
                <a:srgbClr val="5A6378"/>
              </a:solidFill>
              <a:effectLst/>
            </c:spPr>
          </c:dPt>
          <c:dPt>
            <c:idx val="6"/>
            <c:bubble3D val="0"/>
            <c:spPr>
              <a:solidFill>
                <a:srgbClr val="B0B7C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① История цены</c:v>
                </c:pt>
                <c:pt idx="1">
                  <c:v>④ Спекулянты (COT)</c:v>
                </c:pt>
                <c:pt idx="2">
                  <c:v>② Доллар DXY</c:v>
                </c:pt>
                <c:pt idx="3">
                  <c:v>③ Связанные товары</c:v>
                </c:pt>
                <c:pt idx="4">
                  <c:v>⑥ Технические</c:v>
                </c:pt>
                <c:pt idx="5">
                  <c:v>⑤ Запасы LME</c:v>
                </c:pt>
                <c:pt idx="6">
                  <c:v>⑦ Календарь/режим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40</c:v>
                </c:pt>
                <c:pt idx="1">
                  <c:v>15</c:v>
                </c:pt>
                <c:pt idx="2">
                  <c:v>12</c:v>
                </c:pt>
                <c:pt idx="3">
                  <c:v>10</c:v>
                </c:pt>
                <c:pt idx="4">
                  <c:v>10</c:v>
                </c:pt>
                <c:pt idx="5">
                  <c:v>8</c:v>
                </c:pt>
                <c:pt idx="6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· элемент №29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модель и зачем нужен эксперт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114800"/>
            <a:ext cx="9144000" cy="457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Доклад для руководства · 7 минут чтения · 16 слайдов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этот доклад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формул. Простыми словами. С конкретными числами.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задачу решает и почему мы её решаем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508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62356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показатели используем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2356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групп факторов, веса каждого, почему именно они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651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37160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считается прогноз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«головы» модели — каждая считает по-своему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651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62356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модель сильная, где слабая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235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система видит и чего точно не видит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794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по меди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человек делает, чего модель не сможет никогда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3611880"/>
            <a:ext cx="4023360" cy="1005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794760"/>
            <a:ext cx="640080" cy="64008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562356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улучшать дальше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2356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развития на 6-12 месяцев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покупать медь дешевле и без сюрпризов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Колебания цены в год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— один из самых волатильных промметаллов. Ошибка момента покупки за месяц легко стоит ±5-10 %.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4612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Шока в год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Panamá, Escondida, тарифы Трампа — крупные события случаются регулярно и двигают цену на 5-25 %.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03504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Китая в спросе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7220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меди сильно зависит от китайского промышленного цикла, который трудно отслеживать вручную.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система: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502152"/>
            <a:ext cx="7955280" cy="9326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показатели мы используем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групп. Каждая отвечает за свой класс сигналов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64008" cy="12801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цены меди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Тренд, сезонность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5760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9748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Доллар (DXY)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с медью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28016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85216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Связанные товары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Нефть, золото, серебро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9440" y="128016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9440" y="1280160"/>
            <a:ext cx="64008" cy="12801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04672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8660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Позиции спекулянтов (COT)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866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74320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74320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463040" y="2834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292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LME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Физический баланс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60320" y="274320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60320" y="2743200"/>
            <a:ext cx="64008" cy="128016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9748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3657600" y="2834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269748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индикаторы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9748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 тренда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2743200"/>
            <a:ext cx="205740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2743200"/>
            <a:ext cx="6400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5852160" y="28346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892040" y="3246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и режим рынка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89204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времени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справа сверху — относительная важность показателя в общем прогнозе (по среднему feature importance из XGBoost).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История цены меди — 40 %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главный сигнал. Большая часть будущей цены — в прошлой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система смотрит: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Цену вчера, неделю назад, месяц назад, 3 месяца назад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Средние за 5 / 10 / 20 / 60 торговых дней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изменения (моментум) на разных окнах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— как сильно цена скакала недавно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Соотношение между скользящими средними (тренд: восходящий или нисходящий)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0680" y="1280160"/>
            <a:ext cx="3291840" cy="320040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пальцах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7784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медь росла последние 60 дней и продолжает расти — система ставит больший вес на «продолжит расти ещё неделю».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778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цена резко подпрыгнула — система отмечает «перегрев» и ждёт коррекции (через индикатор RSI).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рынок «спит» с маленькой волатильностью — коридор прогноза сужается.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40 %? — Физическая реальность: цена меди — это случайное блуждание с автокорреляцией. Сама история несёт основной сигнал.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Доллар (DXY) — 12 %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доллар сильнее — медь дешевеет. И наоборот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 — индекс доллара к корзине из 6 валют (евро, иена, фунт и т.д.). Считается ICE Futures, обновляется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 для меди: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продаётся за доллары на мировых биржах. Когда доллар растёт — для покупателей в евро, юанях, рублях медь становится дороже → спрос падает → цена снижается.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1280160"/>
            <a:ext cx="352044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49240" y="1417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Историческая корреляция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7373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−0.65 … −0.82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34924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20-летний период 2000-2019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2788920"/>
            <a:ext cx="3520440" cy="1691640"/>
          </a:xfrm>
          <a:prstGeom prst="rect">
            <a:avLst/>
          </a:prstGeom>
          <a:solidFill>
            <a:srgbClr val="F7F8FB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29260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После 2020 связь ослабла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32461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2021-2022 и доллар, и медь росли одновременно — стимулы ФРС, дефицит после локдаунов. Модель учитывает это: считает скользящую корреляцию 60 дней и переключается на физические факторы, если связь нарушилась.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Связанные товары — 10 %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 с похожими активами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43000" y="13533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 WTI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29000" y="13258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спрос на сырьё → растёт и медь. Энергия — топливо для плавки.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143000" y="19933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965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золото — пахнет инфляцией. Медь тоже выигрывает.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14300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Серебро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29000" y="2606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кузен меди. Часто двигаются вместе.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143000" y="32735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29000" y="3246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Растут акции → risk-on → товары в плюсе.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143000" y="391363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Доходность UST 10Y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29000" y="3886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ставка → давление на товары через DXY.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Кроме самих цен — система считает 60-дневную корреляцию каждого актива с медью, и динамически снижает вес сигнала, если связь ослабла.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Позиции спекулянтов (CFTC COT) — 15 %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сигнал: что думают крупные фонды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такое COT: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вторник CFTC (надзорный орган США) собирает данные: сколько длинных и коротких позиций открыли хедж-фонды, производители, мелкие игроки. Публикуется в пятницу.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используем: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long Money Manager — чистая длинная позиция хедж-фондов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Interest — общий объём контрактов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за 5 лет — насколько позиции экстремальны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за 4 и 12 недель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280160"/>
            <a:ext cx="3246120" cy="324612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2356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работает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1737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Хедж-фонды — крупные и информированные. Когда они массово купили длинные позиции — рынок «перегрет» и часто разворачивается.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Эмпирический факт: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2356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Экстремум Net Long опережает локальные пики цены на 1-4 недели в 6 из 10 случаев за 2020-2026.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2356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в системе: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2356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 net long ≈ 74 000 контрактов (29 % OI)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Запасы меди на LME — 8 %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физического металла на бирже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отслеживаем: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объём складских запасов меди в сети LME warehouses по всему миру (Роттердам, Сингапур, Пусан, США, …). Снимок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говорит: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растут → переизбыток предложения → давление на цену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падают → дефицит → поддержка цены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Резкий вывод (как Trafigura −51 000 т) — сигнал крупного контракта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1280160"/>
            <a:ext cx="3291840" cy="1645920"/>
          </a:xfrm>
          <a:prstGeom prst="rect">
            <a:avLst/>
          </a:prstGeom>
          <a:solidFill>
            <a:srgbClr val="F7F8FB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1417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на LME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391 900 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577840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3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−1 200 т за вчерашний день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Westmetall snapshot · бесплатно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40680" y="3063240"/>
            <a:ext cx="3291840" cy="1463040"/>
          </a:xfrm>
          <a:prstGeom prst="rect">
            <a:avLst/>
          </a:prstGeom>
          <a:solidFill>
            <a:srgbClr val="F7F8FB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Ограничение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3520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Бесплатно — только текущий снимок. История запасов формируется только при ежедневных запусках системы.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Технические индикаторы — 10 %  ·  ⑦ Календарь — 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Сигналы, проверенные практикой трейдеров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RSI(14)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Сила тренда от 0 до 100. &gt;70 — перегрев, &lt;30 — перепроданность.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28016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0060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быстрого и медленного среднего. Пересечения = развороты тренда.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%B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цена внутри коридора стандартного отклонения. Выход за края — сигнал.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4023360" cy="91440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54864" cy="9144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ATR(14)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0060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Истинный диапазон — насколько широко цена двигается. Шкала риска.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74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 Календарь и режим рынка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382219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недели / месяц — сезонность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режим (спокойный / турбулентный) из марковской модели — переключает «настроение» прогноза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показателей — общая картина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= 100 %. Веса считаются автоматически из обучения модели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303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Главные выводы: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34924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половины (55 %) — цена и спекулянты. Это «душа» рынка.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Макро (доллар + связанные товары + ставки) — четверть веса.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и календарные — около 15 %.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Физические запасы пока 8 % — будет расти при накоплении истории.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корректируются автоматически каждые 20 бизнес-дней при переобучении.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считается прогноз — на пальцах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независимые «головы» голосуют. Берётся взвешенное среднее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73152" cy="749808"/>
          </a:xfrm>
          <a:prstGeom prst="rect">
            <a:avLst/>
          </a:prstGeom>
          <a:solidFill>
            <a:srgbClr val="5A6378"/>
          </a:solidFill>
          <a:ln w="12700">
            <a:solidFill>
              <a:srgbClr val="5A63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Простая статистика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0" y="13533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«Если последние 3 месяца цена скакала на ±5 %, то и дальше будет так же скакать.»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21408"/>
            <a:ext cx="73152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ARIMA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24871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«Завтра скорее всего так же, как сегодня. Через месяц — тоже как сейчас.»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73152" cy="74980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XGBoost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80960" y="30358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332841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«400 простых правил, выученных на 5 годах данных. Например: если DXY падает и RSI &lt; 30, цена обычно растёт 4 дня.»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03904"/>
            <a:ext cx="822960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803904"/>
            <a:ext cx="73152" cy="749808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87705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MLP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80960" y="387705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416966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«36 нейронов учат плавные связи. Когда XGBoost видит «решётку» правил, нейросеть — «гладкую поверхность».»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прогноз = средневзвешенное всех 4 моделей в логарифмическом пространстве. Коридор p10-p90 — естественная неопределённость, проверенная на 5 годах истории.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модель сильна, а где беспомощна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карта возможностей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7F8FB"/>
          </a:solidFill>
          <a:ln w="25400">
            <a:solidFill>
              <a:srgbClr val="0F9D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Что модель видит хорошо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Тренды и инерцию рынка (последние 1-3 месяца)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Сезонные циклы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Перегрев / перепроданность через RSI и Bollinger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 режимы — переходы спокойный ↔ турбулентный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Опережающие сигналы от хедж-фондов через COT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долларом, золотом, нефтью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7F8FB"/>
          </a:solidFill>
          <a:ln w="254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3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Чего модель не видит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4632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Будущие забастовки на рудниках (Escondida 2024, +4 %)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Политические тарифы и санкции (Трамп, июль 2025, ±25 %)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Землетрясения, аварии, природные катастрофы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OPEC, ФРС, Банка Китая до их объявления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Долгосрочные контракты вашей компании с поставщиками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скидок, объёмов и сезонность вашей закупки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Геополитику и санкционные риски РФ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с многолетним опытом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Половина решения — модель. Вторая половина — человек, который её ведёт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4475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и здравый смысл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показывает прогноз +25 %. Эксперт спрашивает: «А что случилось? Землетрясение? Тарифы?». Без контекста нельзя действовать.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128016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44475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7764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поставщиками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Знает, кому позвонить в Codelco или Glencore. Знает спецификации, объёмы, скидки за лояльность.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28016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144475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Качественные сигналы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Слухи в отрасли, разговоры на конференциях, отношения между менеджерами BHP и закупщиками — этого нет в открытых данных.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13639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рисками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хеджировать форвардом, когда брать спот, как разделить объёмы по поставщикам. Это вопрос опыта, не статистики.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91840" y="297180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13639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97764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модели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каждого шока — настроить веса, добавить новые показатели, отключить устаревшие. Модель не обновится сама.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971800"/>
            <a:ext cx="2743200" cy="155448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55080" y="3136392"/>
            <a:ext cx="457200" cy="457200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от ошибок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модель говорит «купи сейчас», но опыт говорит «подожди до решения OPEC» — слушать опыт. Эксперт — последний фильтр.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улучшать дальше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на 6-12 месяцев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3291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→ 3 мес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Накопить историю запасов LME (3 мес = полезная история)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курс юаня и Caixin PMI через FRED API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Адаптивные веса моделей по текущему режиму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NLP-сентимент свежих новостей (положительный/отрицательный тон)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280160"/>
            <a:ext cx="2743200" cy="3291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→ 6 мес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ERP — автоматическая привязка прогноза к плану закупок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в рублях через интеграцию с курсом ЦБ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условий долгосрочных контрактов (формулы, базы, премии)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Алерты в Telegram/Email при изменении режима или critical-новостях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2743200" cy="3291840"/>
          </a:xfrm>
          <a:prstGeom prst="rect">
            <a:avLst/>
          </a:prstGeom>
          <a:solidFill>
            <a:srgbClr val="F7F8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12 мес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Платные источники: ICSG Monthly Bulletin, LME 3M, SMM Yangshan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Глубокие модели (LSTM, Temporal Fusion Transformer)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study — автоматическая привязка новостей к ценовым движениям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Оптимизация портфеля закупок (хедж + спот + контракты)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первая фаза — без затрат (опираемся на бесплатные данные). Платные источники — со второй половины года.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9144000" cy="4572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Резюме одной фразой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система помощи решениям, а не автомат.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цифровые сигналы (цены, позиции, запасы, корреляции), а эксперт по меди добавляет контекст, опыт и связи. Только вместе они работают.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9D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 к работе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5 горизонтов + коридоры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групп показателей · 4 модели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Время-слайдер истории · новости · события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от вас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Эксперт-куратор системы (1 человек, 0.5 FTE)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данным закупок для калибровки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29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по платным источникам в Q3 2026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Запустить пилот можно в течение недели · команда готова к демонстрации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прогноза цены меди — для руководства</dc:title>
  <dc:subject>PptxGenJS Presentation</dc:subject>
  <dc:creator>PptxGenJS</dc:creator>
  <cp:lastModifiedBy>PptxGenJS</cp:lastModifiedBy>
  <cp:revision>1</cp:revision>
  <dcterms:created xsi:type="dcterms:W3CDTF">2026-05-26T21:46:03Z</dcterms:created>
  <dcterms:modified xsi:type="dcterms:W3CDTF">2026-05-26T21:46:03Z</dcterms:modified>
</cp:coreProperties>
</file>