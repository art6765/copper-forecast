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Группы признаков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8102E"/>
              </a:solidFill>
              <a:effectLst/>
            </c:spPr>
          </c:dPt>
          <c:dPt>
            <c:idx val="1"/>
            <c:bubble3D val="0"/>
            <c:spPr>
              <a:solidFill>
                <a:srgbClr val="1A1A1A"/>
              </a:solidFill>
              <a:effectLst/>
            </c:spPr>
          </c:dPt>
          <c:dPt>
            <c:idx val="2"/>
            <c:bubble3D val="0"/>
            <c:spPr>
              <a:solidFill>
                <a:srgbClr val="F08080"/>
              </a:solidFill>
              <a:effectLst/>
            </c:spPr>
          </c:dPt>
          <c:dPt>
            <c:idx val="3"/>
            <c:bubble3D val="0"/>
            <c:spPr>
              <a:solidFill>
                <a:srgbClr val="E0E0E0"/>
              </a:solidFill>
              <a:effectLst/>
            </c:spPr>
          </c:dPt>
          <c:dPt>
            <c:idx val="4"/>
            <c:bubble3D val="0"/>
            <c:spPr>
              <a:solidFill>
                <a:srgbClr val="8B0E20"/>
              </a:solidFill>
              <a:effectLst/>
            </c:spPr>
          </c:dPt>
          <c:dPt>
            <c:idx val="5"/>
            <c:bubble3D val="0"/>
            <c:spPr>
              <a:solidFill>
                <a:srgbClr val="5C5C5C"/>
              </a:solidFill>
              <a:effectLst/>
            </c:spPr>
          </c:dPt>
          <c:dPt>
            <c:idx val="6"/>
            <c:bubble3D val="0"/>
            <c:spPr>
              <a:solidFill>
                <a:srgbClr val="B0B7C3"/>
              </a:solidFill>
              <a:effectLst/>
            </c:spPr>
          </c:dPt>
          <c:dPt>
            <c:idx val="7"/>
            <c:bubble3D val="0"/>
            <c:spPr>
              <a:solidFill>
                <a:srgbClr val="8DA1B9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Sheet1!$A$2:$A$9</c:f>
              <c:strCache>
                <c:ptCount val="8"/>
                <c:pt idx="0">
                  <c:v>① История цены</c:v>
                </c:pt>
                <c:pt idx="1">
                  <c:v>④ Спекулянты (COT)</c:v>
                </c:pt>
                <c:pt idx="2">
                  <c:v>② Валюты</c:v>
                </c:pt>
                <c:pt idx="3">
                  <c:v>⑤ LME + запасы</c:v>
                </c:pt>
                <c:pt idx="4">
                  <c:v>③ Mining ETFs + риск</c:v>
                </c:pt>
                <c:pt idx="5">
                  <c:v>⑥ Связанные товары</c:v>
                </c:pt>
                <c:pt idx="6">
                  <c:v>⑦ Технические</c:v>
                </c:pt>
                <c:pt idx="7">
                  <c:v>⑧ Новости + сентимент</c:v>
                </c:pt>
              </c:strCache>
            </c:strRef>
          </c:cat>
          <c:val>
            <c:numRef>
              <c:f>Sheet1!$B$2:$B$9</c:f>
              <c:numCache>
                <c:ptCount val="8"/>
                <c:pt idx="0">
                  <c:v>35</c:v>
                </c:pt>
                <c:pt idx="1">
                  <c:v>13</c:v>
                </c:pt>
                <c:pt idx="2">
                  <c:v>12</c:v>
                </c:pt>
                <c:pt idx="3">
                  <c:v>10</c:v>
                </c:pt>
                <c:pt idx="4">
                  <c:v>10</c:v>
                </c:pt>
                <c:pt idx="5">
                  <c:v>8</c:v>
                </c:pt>
                <c:pt idx="6">
                  <c:v>7</c:v>
                </c:pt>
                <c:pt idx="7">
                  <c:v>5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r"/>
      <c:overlay val="0"/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457200"/>
            <a:ext cx="2377440" cy="64008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4572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АКРОН ХОЛДИНГ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128016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C81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548640" y="2057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медь · элемент №29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2560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цены меди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48640" y="32461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F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устроена модель и зачем нужен эксперт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0" y="4114800"/>
            <a:ext cx="9144000" cy="4572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Доклад для руководства · 8 минут чтения · 17 слайдов · v2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 чём этот доклад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формул. Простыми словами. С конкретными числами.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4023360" cy="10058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508760"/>
            <a:ext cx="640080" cy="64008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371600" y="149047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Зачем нужна эта система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71600" y="1828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Какую задачу решает и почему мы её решаем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09160" y="1325880"/>
            <a:ext cx="4023360" cy="10058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6320" y="1508760"/>
            <a:ext cx="640080" cy="64008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4632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623560" y="149047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групп показателей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623560" y="1828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Цена, валюты, COT, LME, Mining ETFs, новости, события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468880"/>
            <a:ext cx="4023360" cy="10058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4360" y="2651760"/>
            <a:ext cx="640080" cy="64008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2651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1371600" y="263347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модели + адаптивные веса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371600" y="2971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Веса автоматически меняются в шоках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09160" y="2468880"/>
            <a:ext cx="4023360" cy="10058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46320" y="2651760"/>
            <a:ext cx="640080" cy="64008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0" y="2651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5623560" y="263347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Инструменты эксперта (новое v2)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623560" y="2971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SHAP, What-if, стресс-тесты, PDF-отчёт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3611880"/>
            <a:ext cx="4023360" cy="10058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3794760"/>
            <a:ext cx="640080" cy="64008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" y="3794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1371600" y="377647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Зачем нужен эксперт по меди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371600" y="4114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человек делает, чего модель не сможет никогда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709160" y="3611880"/>
            <a:ext cx="4023360" cy="10058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846320" y="3794760"/>
            <a:ext cx="640080" cy="64008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46320" y="3794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800" dirty="0"/>
          </a:p>
        </p:txBody>
      </p:sp>
      <p:sp>
        <p:nvSpPr>
          <p:cNvPr id="33" name="Text 31"/>
          <p:cNvSpPr/>
          <p:nvPr/>
        </p:nvSpPr>
        <p:spPr>
          <a:xfrm>
            <a:off x="5623560" y="377647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сделано и что улучшать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5623560" y="4114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Roadmap: v2 готов, дальше — ERP, рубли, alerts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57200" y="4892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цены меди · для руководства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229600" y="48920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Зачем нужна эта система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Чтобы покупать медь дешевле и без сюрпризов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417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20 %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457200" y="19659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Колебания цены в год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4360" y="22402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Медь — один из самых волатильных промметаллов. Ошибка момента покупки за месяц легко стоит ±5-10 %.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6120" y="132588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6120" y="1417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1-3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3246120" y="19659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Шока в год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383280" y="22402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Cobre Panamá, Escondida, тарифы Трампа — крупные события случаются регулярно и двигают цену на 5-25 %.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35040" y="132588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35040" y="1417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55 %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6035040" y="19659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Доля Китая в спросе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172200" y="22402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Цена меди сильно зависит от китайского промышленного цикла, который трудно отслеживать вручную.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3063240"/>
            <a:ext cx="8229600" cy="146304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1546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даёт система: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35204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Каждое утро — прогноз цены на 3 дня, 10 дней, 1, 3, 6 месяцев в виде диапазона «от» и «до»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Подсказку о текущем режиме рынка: спокойный, тренд, шок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Свежие новости с фильтрами (забастовки, тарифы, Китай) и каталог исторических событий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Возможность отмотать время назад и посмотреть, что модель предсказывала бы в любой день из прошлого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94360" y="3502152"/>
            <a:ext cx="7955280" cy="93268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5204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Каждое утро — прогноз цены на 3 дня, 10 дней, 1, 3, 6 месяцев в виде диапазона «от» и «до»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Подсказку о текущем режиме рынка: спокойный, тренд, шок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Свежие новости с фильтрами (забастовки, тарифы, Китай) и каталог исторических событий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Возможность отмотать время назад и посмотреть, что модель предсказывала бы в любой день из прошлого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4892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цены меди · для руководства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229600" y="48920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Какие показатели мы используем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групп. Каждая отвечает за свой класс сигналов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280160"/>
            <a:ext cx="2057400" cy="128016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280160"/>
            <a:ext cx="64008" cy="128016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3716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463040" y="137160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35 %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02920" y="17830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История цены меди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02920" y="21945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Тренд, сезонность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560320" y="1280160"/>
            <a:ext cx="2057400" cy="128016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60320" y="1280160"/>
            <a:ext cx="64008" cy="12801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97480" y="13716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3657600" y="137160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12 %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697480" y="17830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Доллар + валюты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697480" y="21945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DXY, AUD, CLP, CNY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54880" y="1280160"/>
            <a:ext cx="2057400" cy="128016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54880" y="1280160"/>
            <a:ext cx="64008" cy="128016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92040" y="13716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5852160" y="137160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892040" y="17830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Mining ETFs + риск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892040" y="21945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COPX, PICK, VIX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949440" y="1280160"/>
            <a:ext cx="2057400" cy="128016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49440" y="1280160"/>
            <a:ext cx="64008" cy="128016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86600" y="13716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8046720" y="137160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13 %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086600" y="17830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Позиции спекулянтов (COT)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086600" y="21945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Опережающий сигнал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760" y="2697480"/>
            <a:ext cx="2057400" cy="128016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2697480"/>
            <a:ext cx="64008" cy="12801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2920" y="27889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1463040" y="278892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10 %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502920" y="32004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LME 3M + запасы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02920" y="3611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Глобальный baseline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560320" y="2697480"/>
            <a:ext cx="2057400" cy="128016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60320" y="2697480"/>
            <a:ext cx="64008" cy="12801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97480" y="27889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</a:t>
            </a:r>
            <a:endParaRPr lang="en-US" sz="2400" dirty="0"/>
          </a:p>
        </p:txBody>
      </p:sp>
      <p:sp>
        <p:nvSpPr>
          <p:cNvPr id="38" name="Text 36"/>
          <p:cNvSpPr/>
          <p:nvPr/>
        </p:nvSpPr>
        <p:spPr>
          <a:xfrm>
            <a:off x="3657600" y="278892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8 %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2697480" y="32004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Связанные товары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2697480" y="3611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Нефть, золото, серебро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754880" y="2697480"/>
            <a:ext cx="2057400" cy="128016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754880" y="2697480"/>
            <a:ext cx="64008" cy="128016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92040" y="27889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⑦</a:t>
            </a:r>
            <a:endParaRPr lang="en-US" sz="2400" dirty="0"/>
          </a:p>
        </p:txBody>
      </p:sp>
      <p:sp>
        <p:nvSpPr>
          <p:cNvPr id="44" name="Text 42"/>
          <p:cNvSpPr/>
          <p:nvPr/>
        </p:nvSpPr>
        <p:spPr>
          <a:xfrm>
            <a:off x="5852160" y="278892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7 %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4892040" y="32004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Технические индикаторы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4892040" y="3611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RSI/MACD/ATR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949440" y="2697480"/>
            <a:ext cx="2057400" cy="128016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949440" y="2697480"/>
            <a:ext cx="64008" cy="12801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086600" y="27889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⑧</a:t>
            </a:r>
            <a:endParaRPr lang="en-US" sz="2400" dirty="0"/>
          </a:p>
        </p:txBody>
      </p:sp>
      <p:sp>
        <p:nvSpPr>
          <p:cNvPr id="50" name="Text 48"/>
          <p:cNvSpPr/>
          <p:nvPr/>
        </p:nvSpPr>
        <p:spPr>
          <a:xfrm>
            <a:off x="8046720" y="278892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5 %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7086600" y="32004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Новости + сентимент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7086600" y="3611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VADER + правила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457200" y="4297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Цифры справа сверху — относительная важность показателя в общем прогнозе (по среднему feature importance из XGBoost).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457200" y="4892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цены меди · для руководства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229600" y="48920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История цены меди — 40 %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Самый главный сигнал. Большая часть будущей цены — в прошлой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система смотрит: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1645920"/>
            <a:ext cx="4572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Цену вчера, неделю назад, месяц назад, 3 месяца назад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Средние за 5 / 10 / 20 / 60 торговых дней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Скорость изменения (моментум) на разных окнах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Волатильность — как сильно цена скакала недавно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Соотношение между скользящими средними (тренд: восходящий или нисходящий)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40680" y="1280160"/>
            <a:ext cx="3291840" cy="3200400"/>
          </a:xfrm>
          <a:prstGeom prst="rect">
            <a:avLst/>
          </a:prstGeom>
          <a:solidFill>
            <a:srgbClr val="F5F5F5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577840" y="14173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пальцах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577840" y="17830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медь росла последние 60 дней и продолжает расти — система ставит больший вес на «продолжит расти ещё неделю».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577840" y="26974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цена резко подпрыгнула — система отмечает «перегрев» и ждёт коррекции (через индикатор RSI).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577840" y="361188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рынок «спит» с маленькой волатильностью — коридор прогноза сужается.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4526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40 %? — Физическая реальность: цена меди — это случайное блуждание с автокорреляцией. Сама история несёт основной сигнал.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4892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цены меди · для руководства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229600" y="48920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Доллар (DXY) — 12 %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Когда доллар сильнее — медь дешевеет. И наоборот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это: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DXY — индекс доллара к корзине из 6 валют (евро, иена, фунт и т.д.). Считается ICE Futures, обновляется ежедневно.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2468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важно для меди: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78892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Медь продаётся за доллары на мировых биржах. Когда доллар растёт — для покупателей в евро, юанях, рублях медь становится дороже → спрос падает → цена снижается.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212080" y="1280160"/>
            <a:ext cx="3520440" cy="1371600"/>
          </a:xfrm>
          <a:prstGeom prst="rect">
            <a:avLst/>
          </a:prstGeom>
          <a:solidFill>
            <a:srgbClr val="F5F5F5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49240" y="141732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Историческая корреляция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349240" y="173736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−0.65 … −0.82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5349240" y="228600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 20-летний период 2000-2019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212080" y="2788920"/>
            <a:ext cx="3520440" cy="1691640"/>
          </a:xfrm>
          <a:prstGeom prst="rect">
            <a:avLst/>
          </a:prstGeom>
          <a:solidFill>
            <a:srgbClr val="F5F5F5"/>
          </a:solidFill>
          <a:ln w="19050">
            <a:solidFill>
              <a:srgbClr val="C97B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49240" y="292608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После 2020 связь ослабла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349240" y="3246120"/>
            <a:ext cx="3246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2021-2022 и доллар, и медь росли одновременно — стимулы ФРС, дефицит после локдаунов. Модель учитывает это: считает скользящую корреляцию 60 дней и переключается на физические факторы, если связь нарушилась.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4892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цены меди · для руководства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229600" y="48920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Связанные товары — 10 %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происходит с похожими активами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8229600" cy="5486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548640" cy="54864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143000" y="135331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Нефть WTI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429000" y="132588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Растёт спрос на сырьё → растёт и медь. Энергия — топливо для плавки.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920240"/>
            <a:ext cx="8229600" cy="5486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1920240"/>
            <a:ext cx="548640" cy="54864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143000" y="199339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Золото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429000" y="196596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Растёт золото — пахнет инфляцией. Медь тоже выигрывает.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560320"/>
            <a:ext cx="8229600" cy="5486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560320"/>
            <a:ext cx="548640" cy="54864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2560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1143000" y="263347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Серебро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429000" y="260604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Промышленный кузен меди. Часто двигаются вместе.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200400"/>
            <a:ext cx="8229600" cy="5486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3200400"/>
            <a:ext cx="548640" cy="54864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200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1143000" y="327355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S&amp;P 500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429000" y="324612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Растут акции → risk-on → товары в плюсе.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3840480"/>
            <a:ext cx="8229600" cy="5486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3840480"/>
            <a:ext cx="548640" cy="54864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3840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1143000" y="391363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Доходность UST 10Y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429000" y="388620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Высокая ставка → давление на товары через DXY.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Кроме самих цен — система считает 60-дневную корреляцию каждого актива с медью, и динамически снижает вес сигнала, если связь ослабла.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57200" y="4892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цены меди · для руководства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229600" y="48920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Позиции спекулянтов (CFTC COT) — 15 %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Опережающий сигнал: что думают крупные фонды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такое COT: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вторник CFTC (надзорный орган США) собирает данные: сколько длинных и коротких позиций открыли хедж-фонды, производители, мелкие игроки. Публикуется в пятницу.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26060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используем: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" y="292608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long Money Manager — чистая длинная позиция хедж-фондов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Interest — общий объём контрактов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Z-score за 5 лет — насколько позиции экстремальны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Изменение за 4 и 12 недель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0" y="1280160"/>
            <a:ext cx="3246120" cy="3246120"/>
          </a:xfrm>
          <a:prstGeom prst="rect">
            <a:avLst/>
          </a:prstGeom>
          <a:solidFill>
            <a:srgbClr val="F5F5F5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23560" y="14173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это работает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623560" y="173736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Хедж-фонды — крупные и информированные. Когда они массово купили длинные позиции — рынок «перегрет» и часто разворачивается.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623560" y="27432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Эмпирический факт: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23560" y="30175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Экстремум Net Long опережает локальные пики цены на 1-4 недели в 6 из 10 случаев за 2020-2026.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623560" y="39319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Сейчас в системе: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623560" y="42062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 net long ≈ 74 000 контрактов (29 % OI)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4892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цены меди · для руководства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229600" y="48920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Запасы меди на LME — 8 %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Сколько физического металла на бирже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отслеживаем: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Общий объём складских запасов меди в сети LME warehouses по всему миру (Роттердам, Сингапур, Пусан, США, …). Снимок ежедневно.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2697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 чём говорит: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" y="3017520"/>
            <a:ext cx="4572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Запасы растут → переизбыток предложения → давление на цену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Запасы падают → дефицит → поддержка цены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Резкий вывод (как Trafigura −51 000 т) — сигнал крупного контракта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40680" y="1280160"/>
            <a:ext cx="3291840" cy="1645920"/>
          </a:xfrm>
          <a:prstGeom prst="rect">
            <a:avLst/>
          </a:prstGeom>
          <a:solidFill>
            <a:srgbClr val="F5F5F5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577840" y="14173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Сейчас на LME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577840" y="16916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391 900 т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5577840" y="23774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−1 200 т за вчерашний день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577840" y="26060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Источник: Westmetall snapshot · бесплатно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440680" y="3063240"/>
            <a:ext cx="3291840" cy="1463040"/>
          </a:xfrm>
          <a:prstGeom prst="rect">
            <a:avLst/>
          </a:prstGeom>
          <a:solidFill>
            <a:srgbClr val="F5F5F5"/>
          </a:solidFill>
          <a:ln w="19050">
            <a:solidFill>
              <a:srgbClr val="C97B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577840" y="32004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Ограничение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577840" y="352044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Бесплатно — только текущий снимок. История запасов формируется только при ежедневных запусках системы.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4892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цены меди · для руководства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229600" y="48920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 Технические индикаторы — 10 %  ·  ⑦ Календарь — 5 %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Сигналы, проверенные практикой трейдеров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4023360" cy="9144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54864" cy="9144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371600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RSI(14)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69164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Сила тренда от 0 до 100. &gt;70 — перегрев, &lt;30 — перепроданность.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280160"/>
            <a:ext cx="4023360" cy="9144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63440" y="1280160"/>
            <a:ext cx="54864" cy="9144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00600" y="1371600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MACD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800600" y="169164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Разница быстрого и медленного среднего. Пересечения = развороты тренда.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286000"/>
            <a:ext cx="4023360" cy="9144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2286000"/>
            <a:ext cx="54864" cy="9144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2377440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Bollinger %B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94360" y="269748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Где цена внутри коридора стандартного отклонения. Выход за края — сигнал.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63440" y="2286000"/>
            <a:ext cx="4023360" cy="9144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63440" y="2286000"/>
            <a:ext cx="54864" cy="9144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00600" y="2377440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ATR(14)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800600" y="269748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Истинный диапазон — насколько широко цена двигается. Шкала риска.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3383280"/>
            <a:ext cx="8229600" cy="11887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4747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⑦  Календарь и режим рынка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85800" y="3822192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День недели / месяц — сезонность (китайский Новый год, отчёты ФРС)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Текущий режим (спокойный / турбулентный) из марковской модели — переключает «настроение» прогноза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4892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цены меди · для руководства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229600" y="48920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Веса показателей — общая картина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Сумма = 100 %. Веса считаются автоматически из обучения модели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280160"/>
          <a:ext cx="457200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303520" y="13258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Главные выводы: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349240" y="169164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Около половины (48 %) — цена и спекулянты. Это «душа» рынка.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Макро (валюты + Mining ETFs + связанные товары) — 30 %.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Глобальный baseline LME 3M + физические запасы — 10 %.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Технические + новости с сентиментом — 12 %.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Веса корректируются автоматически: при включении адаптивного режима — по сигналу Markov-модели.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57200" y="4892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цены меди · для руководства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229600" y="48920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17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считается прогноз — на пальцах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Четыре независимые «головы» голосуют. Берётся взвешенное среднее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8229600" cy="74980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73152" cy="749808"/>
          </a:xfrm>
          <a:prstGeom prst="rect">
            <a:avLst/>
          </a:prstGeom>
          <a:solidFill>
            <a:srgbClr val="5C5C5C"/>
          </a:solidFill>
          <a:ln w="12700">
            <a:solidFill>
              <a:srgbClr val="5C5C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35331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Простая статистика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680960" y="135331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15 %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0080" y="164592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«Если последние 3 месяца цена скакала на ±5 %, то и дальше будет так же скакать.»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2121408"/>
            <a:ext cx="8229600" cy="74980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121408"/>
            <a:ext cx="73152" cy="74980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1945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Классическая ARIMA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680960" y="21945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25 %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40080" y="248716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«Завтра скорее всего так же, как сегодня. Через месяц — тоже как сейчас.»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962656"/>
            <a:ext cx="8229600" cy="74980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62656"/>
            <a:ext cx="73152" cy="74980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0358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Машинное обучение XGBoost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680960" y="303580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40 %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40080" y="332841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«400 простых правил, выученных на 5 годах данных. Например: если DXY падает и RSI &lt; 30, цена обычно растёт 4 дня.»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803904"/>
            <a:ext cx="8229600" cy="74980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3803904"/>
            <a:ext cx="73152" cy="749808"/>
          </a:xfrm>
          <a:prstGeom prst="rect">
            <a:avLst/>
          </a:prstGeom>
          <a:solidFill>
            <a:srgbClr val="F08080"/>
          </a:solidFill>
          <a:ln w="12700">
            <a:solidFill>
              <a:srgbClr val="F0808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87705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Нейросеть MLP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680960" y="387705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20 %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40080" y="4169664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«36 нейронов учат плавные связи. Когда XGBoost видит «решётку» правил, нейросеть — «гладкую поверхность».»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57200" y="4617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 Веса меняются автоматически: в спокойном рынке доверяем ML (XGB 45 %), в шоках — переключаемся на ARIMA/GBM (75 %). Решает «ломку» моделей в нестабильные периоды.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4892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цены меди · для руководства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229600" y="48920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17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Инструменты эксперта — что нового в v2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перестал быть «чёрным ящиком». Теперь видно, ПОЧЕМУ.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280160"/>
            <a:ext cx="4023360" cy="155448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280160"/>
            <a:ext cx="73152" cy="155448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0352" y="138988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SHAP: почему такой прогноз?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30352" y="17373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любой прогноз модель показывает топ-10 факторов, которые тянут цену вверх (зелёные) или вниз (красные). Видно вклад каждого: DXY, COT, RSI, корреляции.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30352" y="239572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Перестали верить «вслепую» — теперь решение опирается на видимые причины.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663440" y="1280160"/>
            <a:ext cx="4023360" cy="155448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1280160"/>
            <a:ext cx="73152" cy="155448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28032" y="138988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🔮 What-if: симуляция сценариев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828032" y="17373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слайдеров: DXY, нефть, VIX, Mining ETFs, юань, позиции хедж-фондов. Сдвиг — мгновенный пересчёт прогноза.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828032" y="239572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Проигрывайте «что если CPI выйдет горячее на 0.3 %» прямо в окне.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65760" y="2971800"/>
            <a:ext cx="4023360" cy="155448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" y="2971800"/>
            <a:ext cx="73152" cy="155448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0352" y="308152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Стресс-тесты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30352" y="342900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готовых сценариев: Cobre Panamá, Escondida, тариф 30 %, COVID, China stimulus. Накладываем шок на текущий прогноз — видим downside.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30352" y="408736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Перед крупной закупкой — сразу видно худший сценарий.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663440" y="2971800"/>
            <a:ext cx="4023360" cy="155448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63440" y="2971800"/>
            <a:ext cx="73152" cy="155448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28032" y="308152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 PDF-отчёт одной кнопкой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828032" y="342900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ключевые метрики, прогноз на 5 горизонтов, события на месяц — в 1-2 страничном PDF.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828032" y="408736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Еженедельная отправка руководству — больше не задача на полдня.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57200" y="4892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цены меди · для руководства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229600" y="48920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17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Где модель сильна, а где беспомощна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Честная карта возможностей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4023360" cy="3383280"/>
          </a:xfrm>
          <a:prstGeom prst="rect">
            <a:avLst/>
          </a:prstGeom>
          <a:solidFill>
            <a:srgbClr val="F5F5F5"/>
          </a:solidFill>
          <a:ln w="25400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417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Что модель видит хорошо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178308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Тренды и инерцию рынка (последние 1-3 месяца)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Сезонные циклы (китайский Новый год, отчёты ФРС)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Перегрев / перепроданность через RSI и Bollinger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Скрытые режимы — переходы спокойный ↔ турбулентный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Опережающие сигналы от хедж-фондов через COT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Связи с долларом, золотом, нефтью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1280160"/>
            <a:ext cx="4023360" cy="3383280"/>
          </a:xfrm>
          <a:prstGeom prst="rect">
            <a:avLst/>
          </a:prstGeom>
          <a:solidFill>
            <a:srgbClr val="F5F5F5"/>
          </a:solidFill>
          <a:ln w="25400">
            <a:solidFill>
              <a:srgbClr val="C810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0" y="1417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Чего модель не видит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846320" y="178308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Будущие забастовки на рудниках (Escondida 2024, +4 %)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Политические тарифы и санкции (Трамп, июль 2025, ±25 %)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Землетрясения, аварии, природные катастрофы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Решения OPEC, ФРС, Банка Китая до их объявления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Долгосрочные контракты вашей компании с поставщиками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Условия скидок, объёмов и сезонность вашей закупки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Геополитику и санкционные риски РФ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4892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цены меди · для руководства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0" y="48920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17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Зачем нужен эксперт с многолетним опытом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Половина решения — модель. Вторая половина — человек, который её ведёт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280160"/>
            <a:ext cx="2743200" cy="155448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444752"/>
            <a:ext cx="457200" cy="45720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4447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51560" y="141732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Контекст и здравый смысл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1993392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показывает прогноз +25 %. Эксперт спрашивает: «А что случилось? Землетрясение? Тарифы?». Без контекста нельзя действовать.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91840" y="1280160"/>
            <a:ext cx="2743200" cy="155448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29000" y="1444752"/>
            <a:ext cx="457200" cy="45720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29000" y="14447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977640" y="141732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Связи с поставщиками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429000" y="1993392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Знает, кому позвонить в Codelco или Glencore. Знает спецификации, объёмы, скидки за лояльность.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217920" y="1280160"/>
            <a:ext cx="2743200" cy="155448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55080" y="1444752"/>
            <a:ext cx="457200" cy="45720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55080" y="14447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903720" y="141732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Качественные сигналы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355080" y="1993392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Слухи в отрасли, разговоры на конференциях, отношения между менеджерами BHP и закупщиками — этого нет в открытых данных.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65760" y="2971800"/>
            <a:ext cx="2743200" cy="155448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2920" y="3136392"/>
            <a:ext cx="457200" cy="45720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051560" y="310896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Управление рисками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2920" y="3685032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Когда хеджировать форвардом, когда брать спот, как разделить объёмы по поставщикам. Это вопрос опыта, не статистики.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291840" y="2971800"/>
            <a:ext cx="2743200" cy="155448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29000" y="3136392"/>
            <a:ext cx="457200" cy="45720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29000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3977640" y="310896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Адаптация модели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429000" y="3685032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 каждого шока — настроить веса, добавить новые показатели, отключить устаревшие. Модель не обновится сама.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217920" y="2971800"/>
            <a:ext cx="2743200" cy="155448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55080" y="3136392"/>
            <a:ext cx="457200" cy="45720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55080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903720" y="310896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Защита от ошибок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355080" y="3685032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Когда модель говорит «купи сейчас», но опыт говорит «подожди до решения OPEC» — слушать опыт. Эксперт — последний фильтр.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57200" y="4892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цены меди · для руководства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229600" y="48920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17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улучшать дальше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на 6-12 месяцев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280160"/>
            <a:ext cx="2743200" cy="32918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280160"/>
            <a:ext cx="2743200" cy="4572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2801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СДЕЛАНО в v2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874520"/>
            <a:ext cx="23774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Адаптивные веса по режиму Markov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SHAP-объяснение каждого прогноза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Гибрид LME 3M + COMEX, премия как фича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Календарь событий с прогнозами аналитиков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What-if + стресс-тесты + PDF-отчёт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 источников: AUD/CLP/CNY, Mining ETFs, VIX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91840" y="1280160"/>
            <a:ext cx="2743200" cy="32918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91840" y="1280160"/>
            <a:ext cx="2743200" cy="4572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91840" y="12801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БЛИЖАЙШИЕ 3-6 мес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74720" y="1874520"/>
            <a:ext cx="23774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Накопить историю LME 3M (3-6 мес ежедневных запусков)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FRED API: добавить Caixin PMI, IPI, ставки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ERP-интеграция: привязка прогноза к плану закупок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цены в рублях (курс ЦБ + хедж)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Telegram-алерты на смену режима и critical-новости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17920" y="1280160"/>
            <a:ext cx="2743200" cy="32918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1280160"/>
            <a:ext cx="2743200" cy="4572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17920" y="12801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→ 12 мес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0" y="1874520"/>
            <a:ext cx="23774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Платные источники: ICSG Bulletin, LMEsource, SMM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models: LSTM, Temporal Fusion Transformer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study: автопривязка новостей к движениям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FinBERT для NLP-сентимента (точнее VADER)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Оптимизация портфеля: хедж + спот + контракты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57200" y="4617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Бюджет: первая фаза — без затрат (опираемся на бесплатные данные). Платные источники — со второй половины года.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" y="4892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цены меди · для руководства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229600" y="48920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17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206240"/>
            <a:ext cx="9144000" cy="4572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Резюме одной фразой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система помощи решениям, а не автомат.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187452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ловит цифровые сигналы (цены, позиции, запасы, корреляции), а эксперт по меди добавляет контекст, опыт и связи. Только вместе они работают.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2743200"/>
            <a:ext cx="402336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Готово к работе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32004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на 5 горизонтов + COMEX/LME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групп показателей · 4 модели + адаптивные веса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SHAP-объяснение · What-if · стресс-тесты · PDF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Календарь событий с консенсусом аналитиков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63440" y="2743200"/>
            <a:ext cx="402336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C810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46320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Нужно от вас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846320" y="32004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Эксперт-куратор системы (1 человек, 0.5 FTE)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Доступ к данным закупок для калибровки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 по платным источникам в Q3 2026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864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Запустить пилот можно в течение недели · команда готова к демонстрации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Система прогноза цены меди — для руководства</dc:title>
  <dc:subject>PptxGenJS Presentation</dc:subject>
  <dc:creator>PptxGenJS</dc:creator>
  <cp:lastModifiedBy>PptxGenJS</cp:lastModifiedBy>
  <cp:revision>1</cp:revision>
  <dcterms:created xsi:type="dcterms:W3CDTF">2026-05-27T11:21:35Z</dcterms:created>
  <dcterms:modified xsi:type="dcterms:W3CDTF">2026-05-27T11:21:35Z</dcterms:modified>
</cp:coreProperties>
</file>