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7315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29 · 63,55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AI-система поддержки решений для закупок металла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на 5 горизонтов · 4 модели в ансамбле · 9 источников данных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Markov-режимы · историческая верификация · мониторинг новостей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версия 2.0 · май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прогнозировать медь сложно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волатильность, нелинейные шоки, разнородные данные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28016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1783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198424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годовая волатильность LME 3M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280160"/>
            <a:ext cx="54864" cy="1280160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325880"/>
            <a:ext cx="1783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−26.2%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0" y="198424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обвал COVID·март 2020 за месяц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54864" cy="128016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325880"/>
            <a:ext cx="1783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92040" y="198424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после Cobre Panamá·май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2801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280160"/>
            <a:ext cx="54864" cy="128016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325880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40880" y="198424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COMEX vs LME 2025 (тарифы)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источники неопределённости: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Макрорежимы. Доллар (DXY) и ставка ФРС влияют на медь, но связь нестабильна — после 2020 года классическая корреляция Cu/DXY (−0.65…−0.82) ослабла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Шоки предложения. Забастовка Escondida 2024, закрытие Cobre Panamá 2023 — ±1-5% мирового выпуска за день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Политика. Тарифы Трампа 2025 расширили премию COMEX-LME до 30% против исторических 0.5%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Китай. ~55-60% мирового спроса, но индикаторы (Caixin PMI, кризис недвижимости) меняют значимость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система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на 5 горизонтов с количественной оценкой неопределённости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54480" cy="96012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1554480" cy="3657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дня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тактика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1325880"/>
            <a:ext cx="1554480" cy="96012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325880"/>
            <a:ext cx="1554480" cy="3657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дней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488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неделя+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1325880"/>
            <a:ext cx="1554480" cy="96012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325880"/>
            <a:ext cx="1554480" cy="3657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месяц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оперативка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1325880"/>
            <a:ext cx="1554480" cy="96012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1325880"/>
            <a:ext cx="1554480" cy="3657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месяца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3212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1325880"/>
            <a:ext cx="1554480" cy="96012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1325880"/>
            <a:ext cx="1554480" cy="3657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месяцев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237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прогноз — это диапазон, а не одно число: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solidFill>
            <a:srgbClr val="CADCFC">
              <a:alpha val="7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3063240"/>
            <a:ext cx="4572000" cy="457200"/>
          </a:xfrm>
          <a:prstGeom prst="rect">
            <a:avLst/>
          </a:prstGeom>
          <a:solidFill>
            <a:srgbClr val="B87333">
              <a:alpha val="50000"/>
            </a:srgbClr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172968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8"/>
                </a:solidFill>
              </a:rPr>
              <a:t>p10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378"/>
                </a:solidFill>
              </a:rPr>
              <a:t>11 382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09560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8"/>
                </a:solidFill>
              </a:rPr>
              <a:t>p90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378"/>
                </a:solidFill>
              </a:rPr>
              <a:t>18 722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Точечный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14 876 USD/т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378"/>
                </a:solidFill>
              </a:rPr>
              <a:t>← с вероятностью 80 % факт попадёт сюда (прогноз на 6 месяцев) →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Дополнительно: вероятность роста P(↑), направление, режим рынка, текущие новости.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решения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рыночных данных к решению по закупке за 30 секунд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627632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бесплатных источников · 5 лет истории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93392" y="2103120"/>
            <a:ext cx="45720" cy="0"/>
          </a:xfrm>
          <a:prstGeom prst="line">
            <a:avLst/>
          </a:prstGeom>
          <a:noFill/>
          <a:ln w="19050">
            <a:solidFill>
              <a:srgbClr val="5A63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39112" y="1371600"/>
            <a:ext cx="1627632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1508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30552" y="2011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фич: цены, COT, запасы, корреляции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66744" y="2103120"/>
            <a:ext cx="45720" cy="0"/>
          </a:xfrm>
          <a:prstGeom prst="line">
            <a:avLst/>
          </a:prstGeom>
          <a:noFill/>
          <a:ln w="19050">
            <a:solidFill>
              <a:srgbClr val="5A63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12464" y="1371600"/>
            <a:ext cx="1627632" cy="14630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1508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03904" y="2011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+ ARIMA + XGBoost + MLP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40096" y="2103120"/>
            <a:ext cx="45720" cy="0"/>
          </a:xfrm>
          <a:prstGeom prst="line">
            <a:avLst/>
          </a:prstGeom>
          <a:noFill/>
          <a:ln w="19050">
            <a:solidFill>
              <a:srgbClr val="5A63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85816" y="1371600"/>
            <a:ext cx="1627632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1508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77256" y="2011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Взвешенное среднее в лог-пространстве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13448" y="2103120"/>
            <a:ext cx="45720" cy="0"/>
          </a:xfrm>
          <a:prstGeom prst="line">
            <a:avLst/>
          </a:prstGeom>
          <a:noFill/>
          <a:ln w="19050">
            <a:solidFill>
              <a:srgbClr val="5A63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59168" y="1371600"/>
            <a:ext cx="1627632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1508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0608" y="2011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· режим · новости · сравнение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принципы: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347472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multi-step forecasting — отдельная модель для каждого горизонта (более точно, чем рекурсия)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данные — при прогнозе на дату t используются только данные ≤ t (нет look-ahead bias)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коридоров через walk-forward — реальная вероятность p10-p90 ≈ 80 %, проверена на 30 точках за 5 лет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переобучения — clip MLP в ±3σ, σ-floor через историческую волатильность, авто-дроп редких фич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поступают данные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источников, все бесплатные · без обязательных API-ключей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даёт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Частота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Доступ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Yahoo Finance — HG=F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меди COMEX (целевой ряд)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ежедневно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ключа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Yahoo Finance — DXY, WTI, Gold, Silver, S&amp;P 500, US10Y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кросс-активных рядов (макроконтекст)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ежедневно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ключа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CFTC Socrata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positions: MM net long, OI, P/M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еженедельно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ключа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Westmetall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LME copper stocks (snapshot)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ежедневно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ключа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FRED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DXY broad, ставки, CPI, IPI, FRED copper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ежедневно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FRED_API_KEY (бесплатно)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News RSS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 свежих новостей в день, 8 авто-тегов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каждые 15 мин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ключа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Каталог событий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ключевых события 2020-2026 (курируется)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обновлении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4023360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160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7333"/>
                </a:solidFill>
              </a:rPr>
              <a:t>0 ₽/мес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</a:rPr>
              <a:t>стоимость данных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663440" y="4114800"/>
            <a:ext cx="4023360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4160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5 лет · 1 326 дней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</a:rPr>
              <a:t>глубина истории по умолчанию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Математика: ансамбль из 4 моделей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модель ловит свой класс закономерностей · итог — взвешенное среднее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15 %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Brownian Motion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93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Стохастический baseline — медь как случайное блуждание с дрейфом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3657600" cy="292608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96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P_T = P_0 · exp(μ·H + ½σ²·H)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8016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3533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2668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25 %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Integrated 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993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статистика временных рядов · окно 750 дней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487168"/>
            <a:ext cx="3657600" cy="292608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496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(1−φL)(1−L)·log P = (1+θL)·ε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71800"/>
            <a:ext cx="73152" cy="155448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0449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7472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40 %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Trees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685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 · 85 признаков · learning_rate 0.03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178808"/>
            <a:ext cx="3657600" cy="292608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Σ_k f_k(x), f_k ∈ дерев. ансамбль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9718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971800"/>
            <a:ext cx="73152" cy="155448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449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72668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20 %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685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24-12 нейронов · clip ±3σ от выбросов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4178808"/>
            <a:ext cx="3657600" cy="292608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W₂·ReLU(W₁·x + b₁) + b₂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Ансамбль:  μ_ens = Σ wᵢ · μᵢ / Σ wᵢ,    σ_ens = Σ wᵢ · σᵢ / Σ wᵢ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1-2: статистические baselines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ловит волатильность · ARIMA — рассмотрение как random walk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Геометрическое броуновское движение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Допущение: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Дневная лог-доходность ~ N(μ, σ²) с μ, σ из последних 60 дней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на H дней: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P̂_T = P_0 · exp(μ·H + ½σ²·H)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Коридор: квантили log-нормального распределения через Φ⁻¹(α)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Зачем: «sanity check», нижняя граница σ для всех ML-моделей.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ARIMA(1,1,1)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Auto-Regressive Integrated Moving Average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423160"/>
            <a:ext cx="3657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(1 − φL)(1 − L) log P_t = (1 + θL) ε_t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AR(1) — авторегрессия первого порядка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I(1) — интегрирование (разность log-цены)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MA(1) — скользящее среднее ошибок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Обучение: maximum likelihood, окно 750 дней.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Зачем: эффективный baseline. По бэк-тесту — лучшая MAPE.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3-4: машинное обучение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ловит нелинейности · MLP — плавные взаимодействия фич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Multi-Step Gradient Boosting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— лог-доходность за H дней: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7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log(P_{t+H}) − log(P_t)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Гиперпараметры (фиксированы):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400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4 (защита от переобучения)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0.03, L2 =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признаков: цена, тех. индикаторы, COT, корреляции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Лучше всего ловит нелинейные взаимодействия фич.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(нейронная сеть)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 → 24 (ReLU) → 12 (ReLU) →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Регуляризация: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0358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alpha = 0.05 (сильная)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(15 % validation)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μ_T в ±3σ горизонта (защита от выбросов)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в пайплайне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Ловит плавные зависимости, которые «упускают» деревья.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Markov-switching режимы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Скрытая марковская модель распознаёт, в каком режиме сейчас рынок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Лог-доходность r_t подчиняется одному из k скрытых режимов с разными параметрами μ_k и σ_k. Переключения — цепь Маркова первого порядка.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Формально: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4023360" cy="4114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r_t | S_t = k  ~  N(μ_k, σ_k²)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в системе: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Подсветка текущего режима в дашборде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для ML-моделей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Адаптивное взвешивание (roadmap)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k=2 на 5 годах истории меди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4592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 годовая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годовая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P(stay)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9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 bull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3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Turbulent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0" y="3154680"/>
            <a:ext cx="4114800" cy="1371600"/>
          </a:xfrm>
          <a:prstGeom prst="rect">
            <a:avLst/>
          </a:prstGeom>
          <a:solidFill>
            <a:srgbClr val="F7F8FB"/>
          </a:solidFill>
          <a:ln w="25400">
            <a:solidFill>
              <a:srgbClr val="0F9D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на рынке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09160" y="3520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98.9 % Calm bull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709160" y="4069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умеренный рост, низкая турбулентность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прогноза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валидация: 30 точек, переобучение каждые 20 дней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645920"/>
                <a:gridCol w="137160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Горизонт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Лучшая MAPE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HitRate 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Coverage80 %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Комментарий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дня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Прогноз близок к шуму, но коридор калиброван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дней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Шум доминирует, направление лучше монетки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месяц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Целевая зона: коридор ровно 80 %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месяца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выигрывает по MAPE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месяцев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Лучшая направленческая точность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на которые стоит смотреть: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Coverage80 ≈ 80 % — корректная калибровка коридора (наша система: 77–93 %)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HitRate &gt; 50 % — система угадывает направление, и это лучше случайного предсказания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— точечная ошибка; ARIMA = эффективный baseline, ML добавляет ценность по направлению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пользователя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Streamlit-дашборд: 7 вкладок, открывается в браузере одной командой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57400" cy="12344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057400" cy="457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Веер коридоров, выбор модели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2057400" cy="12344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280160"/>
            <a:ext cx="2057400" cy="457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06040" y="1874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 макро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Скользящие корреляции, события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2057400" cy="12344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280160"/>
            <a:ext cx="2057400" cy="457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и запасы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net long, LME stocks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86600" y="1280160"/>
            <a:ext cx="2057400" cy="12344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1280160"/>
            <a:ext cx="2057400" cy="457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🎭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86600" y="1874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Markov-switching, текущая фаза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2057400" cy="12344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651760"/>
            <a:ext cx="2057400" cy="457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📰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+ каталог событий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2651760"/>
            <a:ext cx="2057400" cy="12344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2651760"/>
            <a:ext cx="2057400" cy="457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260604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97480" y="3520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на истории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651760"/>
            <a:ext cx="2057400" cy="12344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651760"/>
            <a:ext cx="2057400" cy="457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84632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Сырые данные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3520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CSV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истории · веса моделей ·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🕰 режим времени (Сейчас / Историческая дата)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перемотать модели в любую точку 5-летней истории и сравнить прогноз с фактом.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Уникальные возможности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нет в типовых решениях для прогноза commodities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05156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Time-slider истории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Перематывайте время на любую дату из прошлого. Модели переобучаются на данных только до этой точки, и вы видите, что они предсказывали бы — рядом с зелёным пунктиром реальной цены.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12.08.2024 (накануне Escondida) — модель дала +0.4 % за 3 дня, факт +2.07 %. Видно: ML не предсказывает забастовки.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41448"/>
            <a:ext cx="73152" cy="105156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событий 2020-2026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82549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курируемых события: COVID-обвал, Cobre Panamá, Escondida, тарифы Трампа. Каждое — с типом, severity, оценочным price impact и supply impact.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всех графиках — вертикальные цветные линии событий. Hover показывает детали и связь с движением цены.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02736"/>
            <a:ext cx="73152" cy="105156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758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 из Google News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98678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Авто-классификация ~117 свежих статей в день по 8 тегам: supply_shock, policy, china, smelter, macro, structural, inventory, price_move.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61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«supply_shock» — мгновенно увидите все свежие забастовки, закрытия, землетрясения. Контекст к прогнозу за 5 секунд.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система не делает (честно)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ожиданиями — ключ к доверию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предсказывает шоки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Никакая статистическая модель не знает заранее о забастовках, авариях, тарифах и политических решениях.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Шире коридор для длинных горизонтов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Markov-режимы предупреждают о росте турбулентности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Новостная лента для ручной корректировки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исторических событий — учиться на прошлом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заменяет аналитика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— это сигнал, а не приказ. Решение остаётся за человеком, понимающим контекст.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8803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Прозрачные метрики качества (MAPE, Coverage)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модели — видно, согласны ли они между собой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Time-slider — проверка работы на любой исторической точке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код, без чёрного ящика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к системе строится на честности об её границах.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 и развитие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стек · открытые библиотеки · понятный roadmap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стек: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Язык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numpy, yfinance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Статистика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Машинное обучение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xgboost, scikit-learn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Интерфейс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streamlit, plotly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Кэширование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9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локальный CSV + cron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развития: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1627632"/>
            <a:ext cx="731520" cy="27432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16276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0" y="158191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4 моделей · ансамблируемые горизонты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Markov-switching · COT, LME stocks, FRED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 из RSS · каталог событий · time-slider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2587752"/>
            <a:ext cx="731520" cy="274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25877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0" y="25420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Temporal Fusion Transformer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Адаптивные веса по режиму рынка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NLP-сентимент новостей через BERT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3547872"/>
            <a:ext cx="731520" cy="27432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3547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Q4+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0" y="350215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LME COTR (отдельный COT для LME)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Yangshan premium · ICSG monthly bulletin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Прогнозы цен в RUB через интеграцию с ЦБ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Forecast MVP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7315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₽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данных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источников, все бесплатные. Никаких подписок Bloomberg / Refinitiv.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417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лет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461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+ ансамбль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1 326 дней данных. 4 модели разной природы. Точечный прогноз + калиброванный коридор.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417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сек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03504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запроса до прогноза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команда `streamlit run app.py`. Полный прогноз на 5 горизонтов в браузере.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пилот на ваших данных закупок · валидация на 6 месяцев · интеграция с ERP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готов к демонстрации сегодня · streamlit run app.py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 цены меди — система поддержки решений</dc:title>
  <dc:subject>PptxGenJS Presentation</dc:subject>
  <dc:creator>Copper Forecast MVP</dc:creator>
  <cp:lastModifiedBy>Copper Forecast MVP</cp:lastModifiedBy>
  <cp:revision>1</cp:revision>
  <dcterms:created xsi:type="dcterms:W3CDTF">2026-05-26T21:34:30Z</dcterms:created>
  <dcterms:modified xsi:type="dcterms:W3CDTF">2026-05-26T21:34:30Z</dcterms:modified>
</cp:coreProperties>
</file>